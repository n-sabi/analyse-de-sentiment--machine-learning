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9" r:id="rId7"/>
    <p:sldId id="260" r:id="rId8"/>
    <p:sldId id="270" r:id="rId9"/>
    <p:sldId id="271" r:id="rId10"/>
    <p:sldId id="261" r:id="rId11"/>
    <p:sldId id="272" r:id="rId12"/>
    <p:sldId id="268" r:id="rId13"/>
    <p:sldId id="262" r:id="rId14"/>
    <p:sldId id="263" r:id="rId15"/>
    <p:sldId id="267" r:id="rId16"/>
    <p:sldId id="264" r:id="rId17"/>
    <p:sldId id="265" r:id="rId18"/>
  </p:sldIdLst>
  <p:sldSz cx="18288000" cy="10287000"/>
  <p:notesSz cx="6858000" cy="9144000"/>
  <p:embeddedFontLst>
    <p:embeddedFont>
      <p:font typeface="Hero Bold" panose="020B0604020202020204" charset="0"/>
      <p:regular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Alternates ExtraBold" panose="020B0604020202020204" charset="0"/>
      <p:bold r:id="rId24"/>
    </p:embeddedFont>
    <p:embeddedFont>
      <p:font typeface="Montserrat Bold" panose="00000800000000000000" charset="0"/>
      <p:regular r:id="rId25"/>
    </p:embeddedFont>
    <p:embeddedFont>
      <p:font typeface="Montserrat ExtraBold" panose="00000900000000000000" pitchFamily="2" charset="0"/>
      <p:bold r:id="rId26"/>
      <p:boldItalic r:id="rId27"/>
    </p:embeddedFont>
    <p:embeddedFont>
      <p:font typeface="Neue Machina Ultra-Bold" panose="020B0604020202020204" charset="0"/>
      <p:regular r:id="rId28"/>
    </p:embeddedFont>
    <p:embeddedFont>
      <p:font typeface="Open Sans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22" autoAdjust="0"/>
  </p:normalViewPr>
  <p:slideViewPr>
    <p:cSldViewPr>
      <p:cViewPr varScale="1">
        <p:scale>
          <a:sx n="47" d="100"/>
          <a:sy n="47" d="100"/>
        </p:scale>
        <p:origin x="51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4228" y="2958918"/>
            <a:ext cx="15025848" cy="1824149"/>
            <a:chOff x="0" y="0"/>
            <a:chExt cx="724141" cy="87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141" cy="87911"/>
            </a:xfrm>
            <a:custGeom>
              <a:avLst/>
              <a:gdLst/>
              <a:ahLst/>
              <a:cxnLst/>
              <a:rect l="l" t="t" r="r" b="b"/>
              <a:pathLst>
                <a:path w="724141" h="87911">
                  <a:moveTo>
                    <a:pt x="43956" y="0"/>
                  </a:moveTo>
                  <a:lnTo>
                    <a:pt x="680186" y="0"/>
                  </a:lnTo>
                  <a:cubicBezTo>
                    <a:pt x="691844" y="0"/>
                    <a:pt x="703024" y="4631"/>
                    <a:pt x="711267" y="12874"/>
                  </a:cubicBezTo>
                  <a:cubicBezTo>
                    <a:pt x="719510" y="21118"/>
                    <a:pt x="724141" y="32298"/>
                    <a:pt x="724141" y="43956"/>
                  </a:cubicBezTo>
                  <a:lnTo>
                    <a:pt x="724141" y="43956"/>
                  </a:lnTo>
                  <a:cubicBezTo>
                    <a:pt x="724141" y="55613"/>
                    <a:pt x="719510" y="66794"/>
                    <a:pt x="711267" y="75037"/>
                  </a:cubicBezTo>
                  <a:cubicBezTo>
                    <a:pt x="703024" y="83280"/>
                    <a:pt x="691844" y="87911"/>
                    <a:pt x="680186" y="87911"/>
                  </a:cubicBezTo>
                  <a:lnTo>
                    <a:pt x="43956" y="87911"/>
                  </a:lnTo>
                  <a:cubicBezTo>
                    <a:pt x="32298" y="87911"/>
                    <a:pt x="21118" y="83280"/>
                    <a:pt x="12874" y="75037"/>
                  </a:cubicBezTo>
                  <a:cubicBezTo>
                    <a:pt x="4631" y="66794"/>
                    <a:pt x="0" y="55613"/>
                    <a:pt x="0" y="43956"/>
                  </a:cubicBezTo>
                  <a:lnTo>
                    <a:pt x="0" y="43956"/>
                  </a:lnTo>
                  <a:cubicBezTo>
                    <a:pt x="0" y="32298"/>
                    <a:pt x="4631" y="21118"/>
                    <a:pt x="12874" y="12874"/>
                  </a:cubicBezTo>
                  <a:cubicBezTo>
                    <a:pt x="21118" y="4631"/>
                    <a:pt x="32298" y="0"/>
                    <a:pt x="43956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4141" cy="126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77169" y="6447341"/>
            <a:ext cx="1872907" cy="1872907"/>
          </a:xfrm>
          <a:custGeom>
            <a:avLst/>
            <a:gdLst/>
            <a:ahLst/>
            <a:cxnLst/>
            <a:rect l="l" t="t" r="r" b="b"/>
            <a:pathLst>
              <a:path w="1872907" h="1872907">
                <a:moveTo>
                  <a:pt x="0" y="0"/>
                </a:moveTo>
                <a:lnTo>
                  <a:pt x="1872907" y="0"/>
                </a:lnTo>
                <a:lnTo>
                  <a:pt x="1872907" y="1872906"/>
                </a:lnTo>
                <a:lnTo>
                  <a:pt x="0" y="1872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6383620" y="7908894"/>
            <a:ext cx="1054544" cy="1307961"/>
          </a:xfrm>
          <a:custGeom>
            <a:avLst/>
            <a:gdLst/>
            <a:ahLst/>
            <a:cxnLst/>
            <a:rect l="l" t="t" r="r" b="b"/>
            <a:pathLst>
              <a:path w="1054544" h="1307961">
                <a:moveTo>
                  <a:pt x="0" y="0"/>
                </a:moveTo>
                <a:lnTo>
                  <a:pt x="1054544" y="0"/>
                </a:lnTo>
                <a:lnTo>
                  <a:pt x="1054544" y="1307962"/>
                </a:lnTo>
                <a:lnTo>
                  <a:pt x="0" y="1307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0" y="6934100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8749121" y="5143500"/>
            <a:ext cx="2607681" cy="2607681"/>
          </a:xfrm>
          <a:custGeom>
            <a:avLst/>
            <a:gdLst/>
            <a:ahLst/>
            <a:cxnLst/>
            <a:rect l="l" t="t" r="r" b="b"/>
            <a:pathLst>
              <a:path w="2607681" h="2607681">
                <a:moveTo>
                  <a:pt x="0" y="0"/>
                </a:moveTo>
                <a:lnTo>
                  <a:pt x="2607681" y="0"/>
                </a:lnTo>
                <a:lnTo>
                  <a:pt x="2607681" y="2607681"/>
                </a:lnTo>
                <a:lnTo>
                  <a:pt x="0" y="26076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5073903" y="868729"/>
            <a:ext cx="2619435" cy="1330506"/>
          </a:xfrm>
          <a:custGeom>
            <a:avLst/>
            <a:gdLst/>
            <a:ahLst/>
            <a:cxnLst/>
            <a:rect l="l" t="t" r="r" b="b"/>
            <a:pathLst>
              <a:path w="2619435" h="1330506">
                <a:moveTo>
                  <a:pt x="0" y="0"/>
                </a:moveTo>
                <a:lnTo>
                  <a:pt x="2619434" y="0"/>
                </a:lnTo>
                <a:lnTo>
                  <a:pt x="2619434" y="1330506"/>
                </a:lnTo>
                <a:lnTo>
                  <a:pt x="0" y="133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145286" y="3306704"/>
            <a:ext cx="16230600" cy="138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4"/>
              </a:lnSpc>
            </a:pPr>
            <a:r>
              <a:rPr lang="en-US" sz="3974" b="1" dirty="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PREDICTION DE SENTIMENTS DANS LES TWEETS FINANCIERS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010123" y="7078996"/>
            <a:ext cx="6738998" cy="3081457"/>
            <a:chOff x="0" y="0"/>
            <a:chExt cx="324773" cy="1485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4773" cy="148505"/>
            </a:xfrm>
            <a:custGeom>
              <a:avLst/>
              <a:gdLst/>
              <a:ahLst/>
              <a:cxnLst/>
              <a:rect l="l" t="t" r="r" b="b"/>
              <a:pathLst>
                <a:path w="324773" h="148505">
                  <a:moveTo>
                    <a:pt x="74252" y="0"/>
                  </a:moveTo>
                  <a:lnTo>
                    <a:pt x="250520" y="0"/>
                  </a:lnTo>
                  <a:cubicBezTo>
                    <a:pt x="291529" y="0"/>
                    <a:pt x="324773" y="33244"/>
                    <a:pt x="324773" y="74252"/>
                  </a:cubicBezTo>
                  <a:lnTo>
                    <a:pt x="324773" y="74252"/>
                  </a:lnTo>
                  <a:cubicBezTo>
                    <a:pt x="324773" y="115261"/>
                    <a:pt x="291529" y="148505"/>
                    <a:pt x="250520" y="148505"/>
                  </a:cubicBezTo>
                  <a:lnTo>
                    <a:pt x="74252" y="148505"/>
                  </a:lnTo>
                  <a:cubicBezTo>
                    <a:pt x="33244" y="148505"/>
                    <a:pt x="0" y="115261"/>
                    <a:pt x="0" y="74252"/>
                  </a:cubicBezTo>
                  <a:lnTo>
                    <a:pt x="0" y="74252"/>
                  </a:lnTo>
                  <a:cubicBezTo>
                    <a:pt x="0" y="33244"/>
                    <a:pt x="33244" y="0"/>
                    <a:pt x="74252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24773" cy="18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313356" y="7361600"/>
            <a:ext cx="5233676" cy="252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Danélius</a:t>
            </a:r>
            <a:r>
              <a:rPr lang="en-US" sz="282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ADJENIA</a:t>
            </a:r>
          </a:p>
          <a:p>
            <a:pPr algn="l">
              <a:lnSpc>
                <a:spcPts val="3952"/>
              </a:lnSpc>
            </a:pPr>
            <a:r>
              <a:rPr lang="en-US" sz="282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Hippolyte SODJINOU</a:t>
            </a:r>
          </a:p>
          <a:p>
            <a:pPr>
              <a:lnSpc>
                <a:spcPts val="3952"/>
              </a:lnSpc>
            </a:pPr>
            <a:r>
              <a:rPr lang="en-US" sz="282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Nadège</a:t>
            </a:r>
            <a:r>
              <a:rPr lang="en-US" sz="282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SABI-DJESSOU</a:t>
            </a:r>
          </a:p>
          <a:p>
            <a:pPr algn="l">
              <a:lnSpc>
                <a:spcPts val="3952"/>
              </a:lnSpc>
            </a:pPr>
            <a:r>
              <a:rPr lang="en-US" sz="282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Nercy</a:t>
            </a:r>
            <a:r>
              <a:rPr lang="en-US" sz="282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NISANBGWE</a:t>
            </a:r>
          </a:p>
          <a:p>
            <a:pPr>
              <a:lnSpc>
                <a:spcPts val="3952"/>
              </a:lnSpc>
            </a:pPr>
            <a:r>
              <a:rPr lang="en-US" sz="282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Vivien GBOYO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0072" y="1028700"/>
            <a:ext cx="10093524" cy="1543050"/>
            <a:chOff x="0" y="0"/>
            <a:chExt cx="486438" cy="7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438" cy="74364"/>
            </a:xfrm>
            <a:custGeom>
              <a:avLst/>
              <a:gdLst/>
              <a:ahLst/>
              <a:cxnLst/>
              <a:rect l="l" t="t" r="r" b="b"/>
              <a:pathLst>
                <a:path w="486438" h="74364">
                  <a:moveTo>
                    <a:pt x="37182" y="0"/>
                  </a:moveTo>
                  <a:lnTo>
                    <a:pt x="449256" y="0"/>
                  </a:lnTo>
                  <a:cubicBezTo>
                    <a:pt x="469791" y="0"/>
                    <a:pt x="486438" y="16647"/>
                    <a:pt x="486438" y="37182"/>
                  </a:cubicBezTo>
                  <a:lnTo>
                    <a:pt x="486438" y="37182"/>
                  </a:lnTo>
                  <a:cubicBezTo>
                    <a:pt x="486438" y="47043"/>
                    <a:pt x="482520" y="56501"/>
                    <a:pt x="475547" y="63474"/>
                  </a:cubicBezTo>
                  <a:cubicBezTo>
                    <a:pt x="468574" y="70447"/>
                    <a:pt x="459117" y="74364"/>
                    <a:pt x="449256" y="74364"/>
                  </a:cubicBezTo>
                  <a:lnTo>
                    <a:pt x="37182" y="74364"/>
                  </a:lnTo>
                  <a:cubicBezTo>
                    <a:pt x="16647" y="74364"/>
                    <a:pt x="0" y="57717"/>
                    <a:pt x="0" y="37182"/>
                  </a:cubicBezTo>
                  <a:lnTo>
                    <a:pt x="0" y="37182"/>
                  </a:lnTo>
                  <a:cubicBezTo>
                    <a:pt x="0" y="16647"/>
                    <a:pt x="16647" y="0"/>
                    <a:pt x="37182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438" cy="112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40814" y="2563220"/>
            <a:ext cx="13425250" cy="749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L'analyse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des sentiments dans les tweets financiers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devenue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essentielle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pour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comprendre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rapidement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tendances du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marché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4941"/>
              </a:lnSpc>
            </a:pP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indent="-571500" algn="just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Notre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projet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à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consister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à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entraîner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un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modèle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machine learning capable de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prédire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sentiments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présents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dans les tweets :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négatif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non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négatif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d’une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part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puis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négatif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positif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neutre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d’autre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part.</a:t>
            </a:r>
          </a:p>
          <a:p>
            <a:pPr algn="just">
              <a:lnSpc>
                <a:spcPts val="4941"/>
              </a:lnSpc>
            </a:pP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indent="-571500" algn="just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Nous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avons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entraîné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comparé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plusieurs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algorithmes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puis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optimisé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leurs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hyperparamètres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qui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prédit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au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mieux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sentiments que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dégagent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les tweets.</a:t>
            </a:r>
          </a:p>
        </p:txBody>
      </p:sp>
      <p:sp>
        <p:nvSpPr>
          <p:cNvPr id="7" name="Freeform 7"/>
          <p:cNvSpPr/>
          <p:nvPr/>
        </p:nvSpPr>
        <p:spPr>
          <a:xfrm>
            <a:off x="14682915" y="5930384"/>
            <a:ext cx="3605085" cy="4356616"/>
          </a:xfrm>
          <a:custGeom>
            <a:avLst/>
            <a:gdLst/>
            <a:ahLst/>
            <a:cxnLst/>
            <a:rect l="l" t="t" r="r" b="b"/>
            <a:pathLst>
              <a:path w="3605085" h="4356616">
                <a:moveTo>
                  <a:pt x="0" y="0"/>
                </a:moveTo>
                <a:lnTo>
                  <a:pt x="3605085" y="0"/>
                </a:lnTo>
                <a:lnTo>
                  <a:pt x="3605085" y="4356616"/>
                </a:lnTo>
                <a:lnTo>
                  <a:pt x="0" y="43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0" y="1082363"/>
            <a:ext cx="13275148" cy="12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6200" y="1158424"/>
            <a:ext cx="10093524" cy="1543050"/>
            <a:chOff x="0" y="0"/>
            <a:chExt cx="486438" cy="7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438" cy="74364"/>
            </a:xfrm>
            <a:custGeom>
              <a:avLst/>
              <a:gdLst/>
              <a:ahLst/>
              <a:cxnLst/>
              <a:rect l="l" t="t" r="r" b="b"/>
              <a:pathLst>
                <a:path w="486438" h="74364">
                  <a:moveTo>
                    <a:pt x="37182" y="0"/>
                  </a:moveTo>
                  <a:lnTo>
                    <a:pt x="449256" y="0"/>
                  </a:lnTo>
                  <a:cubicBezTo>
                    <a:pt x="469791" y="0"/>
                    <a:pt x="486438" y="16647"/>
                    <a:pt x="486438" y="37182"/>
                  </a:cubicBezTo>
                  <a:lnTo>
                    <a:pt x="486438" y="37182"/>
                  </a:lnTo>
                  <a:cubicBezTo>
                    <a:pt x="486438" y="47043"/>
                    <a:pt x="482520" y="56501"/>
                    <a:pt x="475547" y="63474"/>
                  </a:cubicBezTo>
                  <a:cubicBezTo>
                    <a:pt x="468574" y="70447"/>
                    <a:pt x="459117" y="74364"/>
                    <a:pt x="449256" y="74364"/>
                  </a:cubicBezTo>
                  <a:lnTo>
                    <a:pt x="37182" y="74364"/>
                  </a:lnTo>
                  <a:cubicBezTo>
                    <a:pt x="16647" y="74364"/>
                    <a:pt x="0" y="57717"/>
                    <a:pt x="0" y="37182"/>
                  </a:cubicBezTo>
                  <a:lnTo>
                    <a:pt x="0" y="37182"/>
                  </a:lnTo>
                  <a:cubicBezTo>
                    <a:pt x="0" y="16647"/>
                    <a:pt x="16647" y="0"/>
                    <a:pt x="37182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438" cy="112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40814" y="2985513"/>
            <a:ext cx="13425250" cy="498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Suppression des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caractères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spéciaux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urls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espaces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vides et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stopwords</a:t>
            </a: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941"/>
              </a:lnSpc>
            </a:pP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indent="-571500" algn="l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Conversion des mots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minuscule</a:t>
            </a:r>
          </a:p>
          <a:p>
            <a:pPr algn="l">
              <a:lnSpc>
                <a:spcPts val="4941"/>
              </a:lnSpc>
            </a:pP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indent="-571500" algn="l">
              <a:lnSpc>
                <a:spcPts val="4941"/>
              </a:lnSpc>
              <a:buFont typeface="Wingdings" panose="05000000000000000000" pitchFamily="2" charset="2"/>
              <a:buChar char="v"/>
            </a:pP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Vectorization des </a:t>
            </a:r>
            <a:r>
              <a:rPr lang="en-US" sz="352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textes</a:t>
            </a:r>
            <a:r>
              <a:rPr lang="en-US" sz="352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par la technique de Term Frequency – Inverse Document Frequency</a:t>
            </a:r>
          </a:p>
          <a:p>
            <a:pPr algn="l">
              <a:lnSpc>
                <a:spcPts val="4941"/>
              </a:lnSpc>
            </a:pPr>
            <a:endParaRPr lang="en-US" sz="352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682915" y="5930384"/>
            <a:ext cx="3605085" cy="4356616"/>
          </a:xfrm>
          <a:custGeom>
            <a:avLst/>
            <a:gdLst/>
            <a:ahLst/>
            <a:cxnLst/>
            <a:rect l="l" t="t" r="r" b="b"/>
            <a:pathLst>
              <a:path w="3605085" h="4356616">
                <a:moveTo>
                  <a:pt x="0" y="0"/>
                </a:moveTo>
                <a:lnTo>
                  <a:pt x="3605085" y="0"/>
                </a:lnTo>
                <a:lnTo>
                  <a:pt x="3605085" y="4356616"/>
                </a:lnTo>
                <a:lnTo>
                  <a:pt x="0" y="43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0" y="1082363"/>
            <a:ext cx="18288000" cy="1190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48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Prétraitement</a:t>
            </a:r>
            <a:r>
              <a:rPr lang="en-US" sz="4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des </a:t>
            </a:r>
            <a:r>
              <a:rPr lang="en-US" sz="48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textes</a:t>
            </a:r>
            <a:endParaRPr lang="en-US" sz="48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53747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3560" y="772908"/>
            <a:ext cx="15345740" cy="1543050"/>
            <a:chOff x="0" y="0"/>
            <a:chExt cx="739558" cy="7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9558" cy="74364"/>
            </a:xfrm>
            <a:custGeom>
              <a:avLst/>
              <a:gdLst/>
              <a:ahLst/>
              <a:cxnLst/>
              <a:rect l="l" t="t" r="r" b="b"/>
              <a:pathLst>
                <a:path w="739558" h="74364">
                  <a:moveTo>
                    <a:pt x="37182" y="0"/>
                  </a:moveTo>
                  <a:lnTo>
                    <a:pt x="702376" y="0"/>
                  </a:lnTo>
                  <a:cubicBezTo>
                    <a:pt x="722911" y="0"/>
                    <a:pt x="739558" y="16647"/>
                    <a:pt x="739558" y="37182"/>
                  </a:cubicBezTo>
                  <a:lnTo>
                    <a:pt x="739558" y="37182"/>
                  </a:lnTo>
                  <a:cubicBezTo>
                    <a:pt x="739558" y="47043"/>
                    <a:pt x="735641" y="56501"/>
                    <a:pt x="728668" y="63474"/>
                  </a:cubicBezTo>
                  <a:cubicBezTo>
                    <a:pt x="721695" y="70447"/>
                    <a:pt x="712237" y="74364"/>
                    <a:pt x="702376" y="74364"/>
                  </a:cubicBezTo>
                  <a:lnTo>
                    <a:pt x="37182" y="74364"/>
                  </a:lnTo>
                  <a:cubicBezTo>
                    <a:pt x="16647" y="74364"/>
                    <a:pt x="0" y="57717"/>
                    <a:pt x="0" y="37182"/>
                  </a:cubicBezTo>
                  <a:lnTo>
                    <a:pt x="0" y="37182"/>
                  </a:lnTo>
                  <a:cubicBezTo>
                    <a:pt x="0" y="16647"/>
                    <a:pt x="16647" y="0"/>
                    <a:pt x="37182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39558" cy="112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4682915" y="5930384"/>
            <a:ext cx="3605085" cy="4356616"/>
          </a:xfrm>
          <a:custGeom>
            <a:avLst/>
            <a:gdLst/>
            <a:ahLst/>
            <a:cxnLst/>
            <a:rect l="l" t="t" r="r" b="b"/>
            <a:pathLst>
              <a:path w="3605085" h="4356616">
                <a:moveTo>
                  <a:pt x="0" y="0"/>
                </a:moveTo>
                <a:lnTo>
                  <a:pt x="3605085" y="0"/>
                </a:lnTo>
                <a:lnTo>
                  <a:pt x="3605085" y="4356616"/>
                </a:lnTo>
                <a:lnTo>
                  <a:pt x="0" y="43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2925758" y="2711668"/>
            <a:ext cx="12436484" cy="7156232"/>
          </a:xfrm>
          <a:custGeom>
            <a:avLst/>
            <a:gdLst/>
            <a:ahLst/>
            <a:cxnLst/>
            <a:rect l="l" t="t" r="r" b="b"/>
            <a:pathLst>
              <a:path w="11156968" h="5777980">
                <a:moveTo>
                  <a:pt x="0" y="0"/>
                </a:moveTo>
                <a:lnTo>
                  <a:pt x="11156968" y="0"/>
                </a:lnTo>
                <a:lnTo>
                  <a:pt x="11156968" y="5777979"/>
                </a:lnTo>
                <a:lnTo>
                  <a:pt x="0" y="5777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904310" y="952500"/>
            <a:ext cx="15462326" cy="157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IMPLÉMENTATION DES ALGORITHMES</a:t>
            </a:r>
          </a:p>
          <a:p>
            <a:pPr algn="ctr">
              <a:lnSpc>
                <a:spcPts val="6386"/>
              </a:lnSpc>
            </a:pPr>
            <a:endParaRPr lang="en-US" sz="4561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6434" y="2074879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2. 1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Sélection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variables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exploratoires</a:t>
            </a:r>
            <a:endParaRPr lang="en-US" sz="4477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EA7C950-4075-4B2C-B006-37F2AAA69B2E}"/>
              </a:ext>
            </a:extLst>
          </p:cNvPr>
          <p:cNvSpPr/>
          <p:nvPr/>
        </p:nvSpPr>
        <p:spPr>
          <a:xfrm>
            <a:off x="2819400" y="5129787"/>
            <a:ext cx="12039600" cy="434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Charger le </a:t>
            </a:r>
            <a:r>
              <a:rPr lang="fr-FR" sz="2800" b="1" dirty="0" err="1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tokenizer</a:t>
            </a:r>
            <a:r>
              <a:rPr lang="fr-FR" sz="28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BERT   </a:t>
            </a:r>
          </a:p>
          <a:p>
            <a:endParaRPr lang="fr-FR" sz="2800" b="1" dirty="0"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tokenizer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BertTokenizer.from_pretrained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('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bert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-base-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uncased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’)</a:t>
            </a:r>
          </a:p>
          <a:p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        </a:t>
            </a:r>
          </a:p>
          <a:p>
            <a:r>
              <a:rPr lang="fr-FR" sz="28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Tokenisation des données  </a:t>
            </a:r>
          </a:p>
          <a:p>
            <a:endParaRPr lang="fr-FR" dirty="0"/>
          </a:p>
          <a:p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train_encodings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tokenizer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list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X_train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truncation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True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padding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True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max_length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max_length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  </a:t>
            </a:r>
          </a:p>
          <a:p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</a:p>
          <a:p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test_encodings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tokenizer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list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X_test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truncation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True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padding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True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</a:t>
            </a:r>
            <a:r>
              <a:rPr lang="fr-FR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max_length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max_length</a:t>
            </a:r>
            <a:r>
              <a:rPr lang="fr-FR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 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67C047D-82D3-97D2-E898-EC24520E1936}"/>
              </a:ext>
            </a:extLst>
          </p:cNvPr>
          <p:cNvSpPr txBox="1"/>
          <p:nvPr/>
        </p:nvSpPr>
        <p:spPr>
          <a:xfrm>
            <a:off x="2607497" y="3104302"/>
            <a:ext cx="12463406" cy="1562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fr-FR" sz="2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</a:t>
            </a:r>
            <a:r>
              <a:rPr lang="fr-FR" sz="2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Bidirectional</a:t>
            </a:r>
            <a:r>
              <a:rPr lang="fr-FR" sz="2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Encoder </a:t>
            </a:r>
            <a:r>
              <a:rPr lang="fr-FR" sz="2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Representa</a:t>
            </a:r>
            <a:r>
              <a:rPr lang="fr-FR" sz="2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fr-FR" sz="2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tions</a:t>
            </a:r>
            <a:r>
              <a:rPr lang="fr-FR" sz="2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fr-FR" sz="2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</a:t>
            </a:r>
            <a:r>
              <a:rPr lang="fr-FR" sz="2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Transformers (BERT)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353A6-8952-4694-8241-1C5AE327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68D320-4B95-3FDB-249E-CB1600135366}"/>
              </a:ext>
            </a:extLst>
          </p:cNvPr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DBB778-E47D-2168-A30C-C6C616C13643}"/>
              </a:ext>
            </a:extLst>
          </p:cNvPr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5AEF48F-8E11-1973-592A-8B87861512E5}"/>
              </a:ext>
            </a:extLst>
          </p:cNvPr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C13425-91E3-655E-F086-FA80DEA106C5}"/>
                </a:ext>
              </a:extLst>
            </p:cNvPr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5B7771D-B398-8422-8EC5-CF3C1CC67FEF}"/>
                </a:ext>
              </a:extLst>
            </p:cNvPr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0FE1A7-D80A-40D6-26F4-956A8A861818}"/>
              </a:ext>
            </a:extLst>
          </p:cNvPr>
          <p:cNvSpPr/>
          <p:nvPr/>
        </p:nvSpPr>
        <p:spPr>
          <a:xfrm>
            <a:off x="3581400" y="2892100"/>
            <a:ext cx="11582400" cy="6147451"/>
          </a:xfrm>
          <a:custGeom>
            <a:avLst/>
            <a:gdLst/>
            <a:ahLst/>
            <a:cxnLst/>
            <a:rect l="l" t="t" r="r" b="b"/>
            <a:pathLst>
              <a:path w="9871425" h="5856474">
                <a:moveTo>
                  <a:pt x="0" y="0"/>
                </a:moveTo>
                <a:lnTo>
                  <a:pt x="9871424" y="0"/>
                </a:lnTo>
                <a:lnTo>
                  <a:pt x="9871424" y="5856474"/>
                </a:lnTo>
                <a:lnTo>
                  <a:pt x="0" y="5856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3199261-700F-5A6A-6090-230AA5FC4413}"/>
              </a:ext>
            </a:extLst>
          </p:cNvPr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57EE08-D0B5-C96F-6E78-F4AB30EF88DD}"/>
              </a:ext>
            </a:extLst>
          </p:cNvPr>
          <p:cNvSpPr txBox="1"/>
          <p:nvPr/>
        </p:nvSpPr>
        <p:spPr>
          <a:xfrm>
            <a:off x="3296434" y="2074879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2. 1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Sélection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variables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exploratoires</a:t>
            </a:r>
            <a:endParaRPr lang="en-US" sz="4477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1954F-1783-5097-0131-CCCB48B55461}"/>
              </a:ext>
            </a:extLst>
          </p:cNvPr>
          <p:cNvSpPr txBox="1"/>
          <p:nvPr/>
        </p:nvSpPr>
        <p:spPr>
          <a:xfrm>
            <a:off x="1175841" y="9052320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max_length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optimale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128</a:t>
            </a:r>
          </a:p>
        </p:txBody>
      </p:sp>
    </p:spTree>
    <p:extLst>
      <p:ext uri="{BB962C8B-B14F-4D97-AF65-F5344CB8AC3E}">
        <p14:creationId xmlns:p14="http://schemas.microsoft.com/office/powerpoint/2010/main" val="128966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1853045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2.2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Sélection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Hyperparamètres</a:t>
            </a:r>
            <a:endParaRPr lang="en-US" sz="4477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8CF4D-9C9A-6E57-0BF4-5154F153E9DA}"/>
              </a:ext>
            </a:extLst>
          </p:cNvPr>
          <p:cNvSpPr txBox="1"/>
          <p:nvPr/>
        </p:nvSpPr>
        <p:spPr>
          <a:xfrm>
            <a:off x="2544001" y="2960985"/>
            <a:ext cx="12463406" cy="72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3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</a:t>
            </a:r>
            <a:r>
              <a:rPr lang="en-US" sz="3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Bidirectional Long Short-Term Memory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2536B4A-11E1-8494-0445-44D3E60F23CE}"/>
              </a:ext>
            </a:extLst>
          </p:cNvPr>
          <p:cNvSpPr/>
          <p:nvPr/>
        </p:nvSpPr>
        <p:spPr>
          <a:xfrm>
            <a:off x="3508337" y="4429246"/>
            <a:ext cx="12039600" cy="43434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model =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Sequential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()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Embedding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input_dim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=5000, </a:t>
            </a:r>
            <a:r>
              <a:rPr lang="fr-FR" b="1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output_dim</a:t>
            </a:r>
            <a:r>
              <a:rPr lang="fr-FR" b="1" dirty="0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b="1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embedding_dim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input_length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 128)) 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Bidirectional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(LSTM(64,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return_sequences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True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))) 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Bidirectional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(LSTM(32))) 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(Dense(64, activation='relu'))  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Dropout(</a:t>
            </a:r>
            <a:r>
              <a:rPr lang="fr-FR" b="1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dropout_rate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))   </a:t>
            </a:r>
          </a:p>
          <a:p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model.add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(Dense(1, activation='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sigmoid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')) </a:t>
            </a:r>
            <a:endParaRPr lang="fr-FR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38516-832F-82A0-FC19-8C55B51A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70616B-0D11-4374-CC7D-6186EE1400B5}"/>
              </a:ext>
            </a:extLst>
          </p:cNvPr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9F6D207-5BBA-FE96-5E7F-AC34C9083FF5}"/>
              </a:ext>
            </a:extLst>
          </p:cNvPr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B30E941-36D0-61B0-428B-254B19AAF636}"/>
              </a:ext>
            </a:extLst>
          </p:cNvPr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A62CBE-AB0C-2EDE-2A20-7165367FA176}"/>
                </a:ext>
              </a:extLst>
            </p:cNvPr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816736F-5976-E383-2D45-1536CC31A952}"/>
                </a:ext>
              </a:extLst>
            </p:cNvPr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39A7699-CDE9-377C-D1B7-3BCEB3F091FF}"/>
              </a:ext>
            </a:extLst>
          </p:cNvPr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9614DA8-241C-9F65-C6B7-CD93EF47C038}"/>
              </a:ext>
            </a:extLst>
          </p:cNvPr>
          <p:cNvSpPr txBox="1"/>
          <p:nvPr/>
        </p:nvSpPr>
        <p:spPr>
          <a:xfrm>
            <a:off x="3200400" y="1853045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2.2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Sélection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Hyperparamètres</a:t>
            </a:r>
            <a:endParaRPr lang="en-US" sz="4477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C92FA-97EC-5A1A-0C04-F5C6B0C57C74}"/>
              </a:ext>
            </a:extLst>
          </p:cNvPr>
          <p:cNvSpPr txBox="1"/>
          <p:nvPr/>
        </p:nvSpPr>
        <p:spPr>
          <a:xfrm>
            <a:off x="3203812" y="2458670"/>
            <a:ext cx="12463406" cy="72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3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</a:t>
            </a:r>
            <a:r>
              <a:rPr lang="en-US" sz="3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Bidirectional Long Short-Term Memory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053B060-64EB-A3DA-338E-22DF61E5962D}"/>
              </a:ext>
            </a:extLst>
          </p:cNvPr>
          <p:cNvSpPr txBox="1"/>
          <p:nvPr/>
        </p:nvSpPr>
        <p:spPr>
          <a:xfrm>
            <a:off x="2362200" y="5653498"/>
            <a:ext cx="11430000" cy="754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Embedding Dimension [64, 128, 256]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65D6115-BB79-4E96-F400-588A4433DD67}"/>
              </a:ext>
            </a:extLst>
          </p:cNvPr>
          <p:cNvSpPr txBox="1"/>
          <p:nvPr/>
        </p:nvSpPr>
        <p:spPr>
          <a:xfrm>
            <a:off x="2362200" y="6469744"/>
            <a:ext cx="7739006" cy="767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2. Dropout [0.2, 0.5, 0.8]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51214CA-664B-1B10-2466-51C939CC051D}"/>
              </a:ext>
            </a:extLst>
          </p:cNvPr>
          <p:cNvSpPr txBox="1"/>
          <p:nvPr/>
        </p:nvSpPr>
        <p:spPr>
          <a:xfrm>
            <a:off x="2362200" y="7237326"/>
            <a:ext cx="11430000" cy="754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3. Learning rate [0.0001, 0.001, 0.01]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A70B39CD-4208-A965-1D57-4482EA79D890}"/>
              </a:ext>
            </a:extLst>
          </p:cNvPr>
          <p:cNvSpPr txBox="1"/>
          <p:nvPr/>
        </p:nvSpPr>
        <p:spPr>
          <a:xfrm>
            <a:off x="-125557" y="4592061"/>
            <a:ext cx="7739006" cy="767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Variation de :</a:t>
            </a:r>
          </a:p>
        </p:txBody>
      </p:sp>
    </p:spTree>
    <p:extLst>
      <p:ext uri="{BB962C8B-B14F-4D97-AF65-F5344CB8AC3E}">
        <p14:creationId xmlns:p14="http://schemas.microsoft.com/office/powerpoint/2010/main" val="201505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C492D-5EB6-3AF3-0322-9083A88C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76F743-24F9-4BE5-FC9D-94BD03BE4489}"/>
              </a:ext>
            </a:extLst>
          </p:cNvPr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029980-C82D-0DB6-98F4-DC7832ABAE6E}"/>
              </a:ext>
            </a:extLst>
          </p:cNvPr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7B0DE5D-3643-994F-581D-3BD3AD1E8FF0}"/>
              </a:ext>
            </a:extLst>
          </p:cNvPr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F9DDC5A-77BD-29DE-C23D-BFE9BB04E016}"/>
                </a:ext>
              </a:extLst>
            </p:cNvPr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C841833-7EC8-D59E-36D1-A0C70E77CEDA}"/>
                </a:ext>
              </a:extLst>
            </p:cNvPr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28E47CD-3A2D-378B-F766-2C8D702114CE}"/>
              </a:ext>
            </a:extLst>
          </p:cNvPr>
          <p:cNvSpPr/>
          <p:nvPr/>
        </p:nvSpPr>
        <p:spPr>
          <a:xfrm>
            <a:off x="2548917" y="3426649"/>
            <a:ext cx="13739940" cy="4612452"/>
          </a:xfrm>
          <a:custGeom>
            <a:avLst/>
            <a:gdLst/>
            <a:ahLst/>
            <a:cxnLst/>
            <a:rect l="l" t="t" r="r" b="b"/>
            <a:pathLst>
              <a:path w="13306680" h="3869836">
                <a:moveTo>
                  <a:pt x="0" y="0"/>
                </a:moveTo>
                <a:lnTo>
                  <a:pt x="13306680" y="0"/>
                </a:lnTo>
                <a:lnTo>
                  <a:pt x="13306680" y="3869837"/>
                </a:lnTo>
                <a:lnTo>
                  <a:pt x="0" y="3869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23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6F35B30-9B78-4B96-6AB2-C5C8A6FE8F49}"/>
              </a:ext>
            </a:extLst>
          </p:cNvPr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7602BEB-AB6B-7969-4363-BF2646650E59}"/>
              </a:ext>
            </a:extLst>
          </p:cNvPr>
          <p:cNvSpPr txBox="1"/>
          <p:nvPr/>
        </p:nvSpPr>
        <p:spPr>
          <a:xfrm>
            <a:off x="3200400" y="1853045"/>
            <a:ext cx="12463406" cy="76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2.2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Sélection</a:t>
            </a: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</a:t>
            </a:r>
            <a:r>
              <a:rPr lang="en-US" sz="4477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Hyperparamètres</a:t>
            </a:r>
            <a:endParaRPr lang="en-US" sz="4477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E0903-92B3-DAAD-E173-C41410C9FFB7}"/>
              </a:ext>
            </a:extLst>
          </p:cNvPr>
          <p:cNvSpPr txBox="1"/>
          <p:nvPr/>
        </p:nvSpPr>
        <p:spPr>
          <a:xfrm>
            <a:off x="3203812" y="2458670"/>
            <a:ext cx="12463406" cy="72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3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</a:t>
            </a:r>
            <a:r>
              <a:rPr lang="en-US" sz="3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Bidirectional Long Short-Term Memory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67ABBD-17D3-8BB0-D5BE-F9411A897455}"/>
              </a:ext>
            </a:extLst>
          </p:cNvPr>
          <p:cNvSpPr txBox="1"/>
          <p:nvPr/>
        </p:nvSpPr>
        <p:spPr>
          <a:xfrm>
            <a:off x="2480283" y="8110914"/>
            <a:ext cx="99403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Optimale : </a:t>
            </a:r>
          </a:p>
          <a:p>
            <a:r>
              <a:rPr lang="fr-FR" sz="1800" b="1" dirty="0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  <a:sym typeface="Open Sans Bold"/>
              </a:rPr>
              <a:t>      </a:t>
            </a:r>
            <a:r>
              <a:rPr lang="en-US" sz="1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Embedding Dimension  </a:t>
            </a:r>
            <a:r>
              <a:rPr lang="en-US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Wingdings" panose="05000000000000000000" pitchFamily="2" charset="2"/>
              </a:rPr>
              <a:t>=</a:t>
            </a:r>
            <a:r>
              <a:rPr lang="en-US" sz="1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Wingdings" panose="05000000000000000000" pitchFamily="2" charset="2"/>
              </a:rPr>
              <a:t> </a:t>
            </a:r>
            <a:r>
              <a:rPr lang="fr-FR" dirty="0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128</a:t>
            </a:r>
          </a:p>
          <a:p>
            <a:r>
              <a:rPr lang="en-US" sz="1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Dropout </a:t>
            </a:r>
            <a:r>
              <a:rPr lang="en-US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Wingdings" panose="05000000000000000000" pitchFamily="2" charset="2"/>
              </a:rPr>
              <a:t> =</a:t>
            </a:r>
            <a:r>
              <a:rPr lang="en-US" sz="1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Wingdings" panose="05000000000000000000" pitchFamily="2" charset="2"/>
              </a:rPr>
              <a:t> 0.5</a:t>
            </a:r>
          </a:p>
          <a:p>
            <a:r>
              <a:rPr lang="en-US" sz="1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Learning rate</a:t>
            </a:r>
            <a:r>
              <a:rPr lang="en-US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Wingdings" panose="05000000000000000000" pitchFamily="2" charset="2"/>
              </a:rPr>
              <a:t>  = 0.01</a:t>
            </a:r>
            <a:endParaRPr lang="en-US" sz="18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Wingdings" panose="05000000000000000000" pitchFamily="2" charset="2"/>
            </a:endParaRPr>
          </a:p>
          <a:p>
            <a:endParaRPr lang="fr-FR" dirty="0">
              <a:solidFill>
                <a:schemeClr val="bg1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45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FD21A6-FC9E-BBE2-1F48-84224D1E3C2C}"/>
              </a:ext>
            </a:extLst>
          </p:cNvPr>
          <p:cNvSpPr txBox="1"/>
          <p:nvPr/>
        </p:nvSpPr>
        <p:spPr>
          <a:xfrm>
            <a:off x="2359882" y="1833711"/>
            <a:ext cx="13399958" cy="711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3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</a:t>
            </a:r>
            <a:r>
              <a:rPr lang="en-US" sz="3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BERT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F0166FF-DF11-BE44-CA5A-32EB67F3F47F}"/>
              </a:ext>
            </a:extLst>
          </p:cNvPr>
          <p:cNvSpPr/>
          <p:nvPr/>
        </p:nvSpPr>
        <p:spPr>
          <a:xfrm>
            <a:off x="2526794" y="3258646"/>
            <a:ext cx="12039600" cy="519464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training_args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TrainingArguments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num_train_epochs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=3,   </a:t>
            </a:r>
          </a:p>
          <a:p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            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per_device_train_batch_size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=16,   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per_device_eval_batch_size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=64,  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learning_rate</a:t>
            </a:r>
            <a:r>
              <a:rPr lang="fr-FR" b="1" dirty="0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= </a:t>
            </a:r>
            <a:r>
              <a:rPr lang="fr-FR" b="1" dirty="0" err="1">
                <a:solidFill>
                  <a:srgbClr val="0070C0"/>
                </a:solidFill>
                <a:highlight>
                  <a:srgbClr val="00FF00"/>
                </a:highlight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lr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,  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warmup_steps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=100,  </a:t>
            </a:r>
          </a:p>
          <a:p>
            <a:pPr algn="ctr"/>
            <a:endParaRPr lang="fr-FR" b="1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weight_decay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=0.01, 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logging_steps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=10,  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evaluation_strategy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="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epoch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", 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    </a:t>
            </a:r>
          </a:p>
          <a:p>
            <a:pPr algn="ctr"/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save_strategy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="</a:t>
            </a:r>
            <a:r>
              <a:rPr lang="fr-FR" b="1" dirty="0" err="1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epoch</a:t>
            </a:r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 ’’</a:t>
            </a:r>
          </a:p>
          <a:p>
            <a:pPr algn="ctr"/>
            <a:r>
              <a:rPr lang="fr-FR" b="1" dirty="0">
                <a:solidFill>
                  <a:srgbClr val="0070C0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</a:t>
            </a:r>
            <a:endParaRPr lang="fr-FR" dirty="0">
              <a:solidFill>
                <a:srgbClr val="0070C0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185775-4FF0-61D7-96FB-36C9B1C8F23E}"/>
              </a:ext>
            </a:extLst>
          </p:cNvPr>
          <p:cNvSpPr txBox="1"/>
          <p:nvPr/>
        </p:nvSpPr>
        <p:spPr>
          <a:xfrm>
            <a:off x="2691388" y="8391068"/>
            <a:ext cx="12460986" cy="1654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ts val="62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7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Variation de :</a:t>
            </a:r>
          </a:p>
          <a:p>
            <a:pPr marL="0" marR="0" lvl="0" indent="0" algn="ctr" defTabSz="914400" rtl="0" eaLnBrk="1" fontAlgn="auto" latinLnBrk="0" hangingPunct="1">
              <a:lnSpc>
                <a:spcPts val="62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77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kumimoji="0" lang="en-US" sz="447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earning rate [1e-5, 2e-5, 3e-5, 5e-5]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F3FF4-A626-29DD-96D7-D7AA18E2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AEE2FC-0E2D-BCC5-2F38-4193C03F0E54}"/>
              </a:ext>
            </a:extLst>
          </p:cNvPr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6C385A0-7DD5-D14A-C589-42A06BA2FAF7}"/>
              </a:ext>
            </a:extLst>
          </p:cNvPr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C4E43B-0563-0456-7BDD-832BE115C317}"/>
              </a:ext>
            </a:extLst>
          </p:cNvPr>
          <p:cNvGrpSpPr/>
          <p:nvPr/>
        </p:nvGrpSpPr>
        <p:grpSpPr>
          <a:xfrm>
            <a:off x="2548917" y="257175"/>
            <a:ext cx="13399958" cy="1446266"/>
            <a:chOff x="0" y="0"/>
            <a:chExt cx="645785" cy="6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A0012E0-7124-6158-49C4-990C02782408}"/>
                </a:ext>
              </a:extLst>
            </p:cNvPr>
            <p:cNvSpPr/>
            <p:nvPr/>
          </p:nvSpPr>
          <p:spPr>
            <a:xfrm>
              <a:off x="0" y="0"/>
              <a:ext cx="645785" cy="69700"/>
            </a:xfrm>
            <a:custGeom>
              <a:avLst/>
              <a:gdLst/>
              <a:ahLst/>
              <a:cxnLst/>
              <a:rect l="l" t="t" r="r" b="b"/>
              <a:pathLst>
                <a:path w="645785" h="69700">
                  <a:moveTo>
                    <a:pt x="34850" y="0"/>
                  </a:moveTo>
                  <a:lnTo>
                    <a:pt x="610935" y="0"/>
                  </a:lnTo>
                  <a:cubicBezTo>
                    <a:pt x="620178" y="0"/>
                    <a:pt x="629042" y="3672"/>
                    <a:pt x="635577" y="10207"/>
                  </a:cubicBezTo>
                  <a:cubicBezTo>
                    <a:pt x="642113" y="16743"/>
                    <a:pt x="645785" y="25607"/>
                    <a:pt x="645785" y="34850"/>
                  </a:cubicBezTo>
                  <a:lnTo>
                    <a:pt x="645785" y="34850"/>
                  </a:lnTo>
                  <a:cubicBezTo>
                    <a:pt x="645785" y="44093"/>
                    <a:pt x="642113" y="52957"/>
                    <a:pt x="635577" y="59493"/>
                  </a:cubicBezTo>
                  <a:cubicBezTo>
                    <a:pt x="629042" y="66028"/>
                    <a:pt x="620178" y="69700"/>
                    <a:pt x="610935" y="69700"/>
                  </a:cubicBezTo>
                  <a:lnTo>
                    <a:pt x="34850" y="69700"/>
                  </a:lnTo>
                  <a:cubicBezTo>
                    <a:pt x="25607" y="69700"/>
                    <a:pt x="16743" y="66028"/>
                    <a:pt x="10207" y="59493"/>
                  </a:cubicBezTo>
                  <a:cubicBezTo>
                    <a:pt x="3672" y="52957"/>
                    <a:pt x="0" y="44093"/>
                    <a:pt x="0" y="34850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89875D9-133E-FC1B-6E95-AE248CE82E1C}"/>
                </a:ext>
              </a:extLst>
            </p:cNvPr>
            <p:cNvSpPr txBox="1"/>
            <p:nvPr/>
          </p:nvSpPr>
          <p:spPr>
            <a:xfrm>
              <a:off x="0" y="-38100"/>
              <a:ext cx="645785" cy="10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ED92980-26D3-175C-66E8-4BF4F34E15D8}"/>
              </a:ext>
            </a:extLst>
          </p:cNvPr>
          <p:cNvSpPr/>
          <p:nvPr/>
        </p:nvSpPr>
        <p:spPr>
          <a:xfrm>
            <a:off x="3733800" y="2795473"/>
            <a:ext cx="11277599" cy="6081828"/>
          </a:xfrm>
          <a:custGeom>
            <a:avLst/>
            <a:gdLst/>
            <a:ahLst/>
            <a:cxnLst/>
            <a:rect l="l" t="t" r="r" b="b"/>
            <a:pathLst>
              <a:path w="9524022" h="5867478">
                <a:moveTo>
                  <a:pt x="0" y="0"/>
                </a:moveTo>
                <a:lnTo>
                  <a:pt x="9524022" y="0"/>
                </a:lnTo>
                <a:lnTo>
                  <a:pt x="9524022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2A504D4-645C-67AA-8CCC-A7715473DA6E}"/>
              </a:ext>
            </a:extLst>
          </p:cNvPr>
          <p:cNvSpPr txBox="1"/>
          <p:nvPr/>
        </p:nvSpPr>
        <p:spPr>
          <a:xfrm>
            <a:off x="1796974" y="605625"/>
            <a:ext cx="15462326" cy="76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</a:pPr>
            <a:r>
              <a:rPr lang="en-US" sz="456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OPTIMISATION DES MODÈLES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6C65572-7ECB-1C1B-CD14-E2CC3BEE79BA}"/>
              </a:ext>
            </a:extLst>
          </p:cNvPr>
          <p:cNvSpPr txBox="1"/>
          <p:nvPr/>
        </p:nvSpPr>
        <p:spPr>
          <a:xfrm>
            <a:off x="2359882" y="1833711"/>
            <a:ext cx="13399958" cy="711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3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</a:t>
            </a:r>
            <a:r>
              <a:rPr lang="en-US" sz="3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BERT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7EE6CE-576A-D641-B41E-BB3EF6C9BE0B}"/>
              </a:ext>
            </a:extLst>
          </p:cNvPr>
          <p:cNvSpPr txBox="1"/>
          <p:nvPr/>
        </p:nvSpPr>
        <p:spPr>
          <a:xfrm>
            <a:off x="3733800" y="921971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Learning_rate</a:t>
            </a:r>
            <a:r>
              <a:rPr lang="fr-FR" sz="2400" b="1" dirty="0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optimal est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3e-5</a:t>
            </a:r>
            <a:r>
              <a:rPr lang="fr-FR" sz="2400" b="1" dirty="0">
                <a:solidFill>
                  <a:schemeClr val="bg1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508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66700"/>
            <a:ext cx="13399958" cy="1868907"/>
            <a:chOff x="0" y="0"/>
            <a:chExt cx="645785" cy="900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90068"/>
            </a:xfrm>
            <a:custGeom>
              <a:avLst/>
              <a:gdLst/>
              <a:ahLst/>
              <a:cxnLst/>
              <a:rect l="l" t="t" r="r" b="b"/>
              <a:pathLst>
                <a:path w="645785" h="90068">
                  <a:moveTo>
                    <a:pt x="45034" y="0"/>
                  </a:moveTo>
                  <a:lnTo>
                    <a:pt x="600751" y="0"/>
                  </a:lnTo>
                  <a:cubicBezTo>
                    <a:pt x="625622" y="0"/>
                    <a:pt x="645785" y="20162"/>
                    <a:pt x="645785" y="45034"/>
                  </a:cubicBezTo>
                  <a:lnTo>
                    <a:pt x="645785" y="45034"/>
                  </a:lnTo>
                  <a:cubicBezTo>
                    <a:pt x="645785" y="69906"/>
                    <a:pt x="625622" y="90068"/>
                    <a:pt x="600751" y="90068"/>
                  </a:cubicBezTo>
                  <a:lnTo>
                    <a:pt x="45034" y="90068"/>
                  </a:lnTo>
                  <a:cubicBezTo>
                    <a:pt x="20162" y="90068"/>
                    <a:pt x="0" y="69906"/>
                    <a:pt x="0" y="45034"/>
                  </a:cubicBezTo>
                  <a:lnTo>
                    <a:pt x="0" y="45034"/>
                  </a:lnTo>
                  <a:cubicBezTo>
                    <a:pt x="0" y="20162"/>
                    <a:pt x="20162" y="0"/>
                    <a:pt x="45034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28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96974" y="615150"/>
            <a:ext cx="14851859" cy="12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SÉLECTION ET EVALUATION DU MODÈLE LE PLUS PERFORMANT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76600" y="3274630"/>
            <a:ext cx="12218868" cy="5300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4200" marR="5080" indent="-571500">
              <a:lnSpc>
                <a:spcPct val="109900"/>
              </a:lnSpc>
              <a:spcBef>
                <a:spcPts val="90"/>
              </a:spcBef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Modèle</a:t>
            </a:r>
            <a:r>
              <a:rPr lang="fr-FR" sz="3600" b="1" spc="6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600" b="1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choisi </a:t>
            </a:r>
            <a:r>
              <a:rPr lang="fr-FR" sz="3200" b="1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:</a:t>
            </a:r>
            <a:r>
              <a:rPr lang="fr-FR" sz="3200" b="1" spc="6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b="1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BERT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(</a:t>
            </a:r>
            <a:r>
              <a:rPr lang="fr-FR" sz="3200" dirty="0" err="1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Bidirectional</a:t>
            </a:r>
            <a:r>
              <a:rPr lang="fr-FR" sz="3200" spc="6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Encoder</a:t>
            </a:r>
            <a:r>
              <a:rPr lang="fr-FR" sz="3200" spc="6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 err="1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Representations</a:t>
            </a: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 err="1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F</a:t>
            </a:r>
            <a:r>
              <a:rPr lang="fr-FR" sz="3200" dirty="0" err="1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rom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Transformers)</a:t>
            </a:r>
            <a:endParaRPr lang="fr-FR" sz="3200" dirty="0">
              <a:solidFill>
                <a:schemeClr val="bg1"/>
              </a:solidFill>
              <a:latin typeface="Montserrat" panose="00000500000000000000" pitchFamily="50" charset="0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725"/>
              </a:spcBef>
              <a:buFont typeface="Wingdings" panose="05000000000000000000" pitchFamily="2" charset="2"/>
              <a:buChar char="v"/>
            </a:pPr>
            <a:r>
              <a:rPr lang="fr-FR" sz="3200" b="1" spc="7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Pourquoi </a:t>
            </a:r>
            <a:r>
              <a:rPr lang="fr-FR" sz="3200" b="1" spc="-5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?</a:t>
            </a:r>
            <a:endParaRPr lang="fr-FR" sz="3200" b="1" dirty="0">
              <a:solidFill>
                <a:schemeClr val="bg1"/>
              </a:solidFill>
              <a:latin typeface="Montserrat" panose="00000500000000000000" pitchFamily="50" charset="0"/>
              <a:cs typeface="Times New Roman"/>
            </a:endParaRPr>
          </a:p>
          <a:p>
            <a:pPr marL="1177925" indent="-457200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Meilleure</a:t>
            </a:r>
            <a:r>
              <a:rPr lang="fr-FR" sz="3200" spc="10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performance</a:t>
            </a:r>
            <a:r>
              <a:rPr lang="fr-FR" sz="3200" spc="10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(F1-score</a:t>
            </a:r>
            <a:r>
              <a:rPr lang="fr-FR" sz="3200" spc="10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de</a:t>
            </a:r>
            <a:r>
              <a:rPr lang="fr-FR" sz="3200" spc="1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0,93)</a:t>
            </a:r>
            <a:endParaRPr lang="fr-FR" sz="3200" dirty="0">
              <a:solidFill>
                <a:schemeClr val="bg1"/>
              </a:solidFill>
              <a:latin typeface="Montserrat" panose="00000500000000000000" pitchFamily="50" charset="0"/>
              <a:cs typeface="Times New Roman"/>
            </a:endParaRPr>
          </a:p>
          <a:p>
            <a:pPr marL="1177925" marR="2014855" indent="-457200">
              <a:lnSpc>
                <a:spcPct val="152200"/>
              </a:lnSpc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Capacité</a:t>
            </a:r>
            <a:r>
              <a:rPr lang="fr-FR" sz="3200" spc="7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à</a:t>
            </a:r>
            <a:r>
              <a:rPr lang="fr-FR" sz="3200" spc="7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capturer</a:t>
            </a:r>
            <a:r>
              <a:rPr lang="fr-FR" sz="3200" spc="7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le</a:t>
            </a:r>
            <a:r>
              <a:rPr lang="fr-FR" sz="3200" spc="7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contexte</a:t>
            </a:r>
            <a:r>
              <a:rPr lang="fr-FR" sz="3200" spc="7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linguistique</a:t>
            </a:r>
          </a:p>
          <a:p>
            <a:pPr marL="1177925" marR="2014855" indent="-457200">
              <a:lnSpc>
                <a:spcPct val="152200"/>
              </a:lnSpc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Pré-entraîné</a:t>
            </a:r>
            <a:r>
              <a:rPr lang="fr-FR" sz="3200" spc="9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sur</a:t>
            </a:r>
            <a:r>
              <a:rPr lang="fr-FR" sz="3200" spc="95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de</a:t>
            </a:r>
            <a:r>
              <a:rPr lang="fr-FR" sz="3200" spc="9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nombreuses</a:t>
            </a:r>
            <a:r>
              <a:rPr lang="fr-FR" sz="3200" spc="9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 </a:t>
            </a: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données</a:t>
            </a:r>
          </a:p>
          <a:p>
            <a:pPr marL="1177925" marR="2014855" indent="-457200">
              <a:lnSpc>
                <a:spcPct val="152200"/>
              </a:lnSpc>
              <a:buFont typeface="Wingdings" panose="05000000000000000000" pitchFamily="2" charset="2"/>
              <a:buChar char="Ø"/>
            </a:pPr>
            <a:r>
              <a:rPr lang="fr-FR" sz="3200" spc="-10" dirty="0">
                <a:solidFill>
                  <a:schemeClr val="bg1"/>
                </a:solidFill>
                <a:latin typeface="Montserrat" panose="00000500000000000000" pitchFamily="50" charset="0"/>
                <a:cs typeface="Times New Roman"/>
              </a:rPr>
              <a:t>Utilisation de données brutes sans besoin de prétraitement manuel</a:t>
            </a:r>
            <a:endParaRPr lang="fr-FR" sz="3200" dirty="0">
              <a:solidFill>
                <a:schemeClr val="bg1"/>
              </a:solidFill>
              <a:latin typeface="Montserrat" panose="00000500000000000000" pitchFamily="50" charset="0"/>
              <a:cs typeface="Times New Roman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324E4E5-153C-4301-97C7-690F4574F088}"/>
              </a:ext>
            </a:extLst>
          </p:cNvPr>
          <p:cNvSpPr/>
          <p:nvPr/>
        </p:nvSpPr>
        <p:spPr>
          <a:xfrm>
            <a:off x="14566329" y="5143500"/>
            <a:ext cx="3605085" cy="4356616"/>
          </a:xfrm>
          <a:custGeom>
            <a:avLst/>
            <a:gdLst/>
            <a:ahLst/>
            <a:cxnLst/>
            <a:rect l="l" t="t" r="r" b="b"/>
            <a:pathLst>
              <a:path w="3605085" h="4356616">
                <a:moveTo>
                  <a:pt x="0" y="0"/>
                </a:moveTo>
                <a:lnTo>
                  <a:pt x="3605085" y="0"/>
                </a:lnTo>
                <a:lnTo>
                  <a:pt x="3605085" y="4356616"/>
                </a:lnTo>
                <a:lnTo>
                  <a:pt x="0" y="43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5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66700"/>
            <a:ext cx="13399958" cy="1868907"/>
            <a:chOff x="0" y="0"/>
            <a:chExt cx="645785" cy="900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90068"/>
            </a:xfrm>
            <a:custGeom>
              <a:avLst/>
              <a:gdLst/>
              <a:ahLst/>
              <a:cxnLst/>
              <a:rect l="l" t="t" r="r" b="b"/>
              <a:pathLst>
                <a:path w="645785" h="90068">
                  <a:moveTo>
                    <a:pt x="45034" y="0"/>
                  </a:moveTo>
                  <a:lnTo>
                    <a:pt x="600751" y="0"/>
                  </a:lnTo>
                  <a:cubicBezTo>
                    <a:pt x="625622" y="0"/>
                    <a:pt x="645785" y="20162"/>
                    <a:pt x="645785" y="45034"/>
                  </a:cubicBezTo>
                  <a:lnTo>
                    <a:pt x="645785" y="45034"/>
                  </a:lnTo>
                  <a:cubicBezTo>
                    <a:pt x="645785" y="69906"/>
                    <a:pt x="625622" y="90068"/>
                    <a:pt x="600751" y="90068"/>
                  </a:cubicBezTo>
                  <a:lnTo>
                    <a:pt x="45034" y="90068"/>
                  </a:lnTo>
                  <a:cubicBezTo>
                    <a:pt x="20162" y="90068"/>
                    <a:pt x="0" y="69906"/>
                    <a:pt x="0" y="45034"/>
                  </a:cubicBezTo>
                  <a:lnTo>
                    <a:pt x="0" y="45034"/>
                  </a:lnTo>
                  <a:cubicBezTo>
                    <a:pt x="0" y="20162"/>
                    <a:pt x="20162" y="0"/>
                    <a:pt x="45034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28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96974" y="615150"/>
            <a:ext cx="14851859" cy="12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SÉLECTION ET EVALUATION DU MODÈLE LE PLUS PERFORMANT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8917" y="2614815"/>
            <a:ext cx="14708019" cy="496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3928" b="1" dirty="0">
                <a:solidFill>
                  <a:srgbClr val="FFFFFF"/>
                </a:solidFill>
                <a:latin typeface="Montserrat Alternates ExtraBold" panose="00000900000000000000" pitchFamily="50" charset="0"/>
                <a:ea typeface="Open Sans Bold"/>
                <a:cs typeface="Open Sans Bold"/>
                <a:sym typeface="Open Sans Bold"/>
              </a:rPr>
              <a:t>  </a:t>
            </a:r>
            <a:r>
              <a:rPr lang="en-US" sz="3928" b="1" dirty="0" err="1">
                <a:solidFill>
                  <a:srgbClr val="FFFFFF"/>
                </a:solidFill>
                <a:latin typeface="Montserrat Alternates ExtraBold" panose="00000900000000000000" pitchFamily="50" charset="0"/>
                <a:ea typeface="Open Sans Bold"/>
                <a:cs typeface="Open Sans Bold"/>
                <a:sym typeface="Open Sans Bold"/>
              </a:rPr>
              <a:t>Hyperparamètres</a:t>
            </a:r>
            <a:r>
              <a:rPr lang="en-US" sz="3928" b="1" dirty="0">
                <a:solidFill>
                  <a:srgbClr val="FFFFFF"/>
                </a:solidFill>
                <a:latin typeface="Montserrat Alternates ExtraBold" panose="00000900000000000000" pitchFamily="50" charset="0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l">
              <a:lnSpc>
                <a:spcPts val="5500"/>
              </a:lnSpc>
            </a:pPr>
            <a:endParaRPr lang="en-US" sz="3928" b="1" dirty="0">
              <a:solidFill>
                <a:srgbClr val="FFFFFF"/>
              </a:solidFill>
              <a:latin typeface="Montserrat Alternates ExtraBold" panose="00000900000000000000" pitchFamily="50" charset="0"/>
              <a:ea typeface="Open Sans Bold"/>
              <a:cs typeface="Open Sans Bold"/>
              <a:sym typeface="Open Sans Bold"/>
            </a:endParaRPr>
          </a:p>
          <a:p>
            <a:pPr marL="762554" lvl="1" indent="-457200" algn="l">
              <a:lnSpc>
                <a:spcPts val="3960"/>
              </a:lnSpc>
              <a:buFont typeface="Wingdings" panose="05000000000000000000" pitchFamily="2" charset="2"/>
              <a:buChar char="v"/>
            </a:pP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Nombre </a:t>
            </a:r>
            <a:r>
              <a:rPr lang="en-US" sz="282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d’époques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828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num_train_epochs</a:t>
            </a:r>
            <a:r>
              <a:rPr lang="en-US" sz="2828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=3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610707" lvl="1" indent="-305353" algn="l">
              <a:lnSpc>
                <a:spcPts val="3960"/>
              </a:lnSpc>
              <a:buFont typeface="Arial"/>
              <a:buChar char="•"/>
            </a:pPr>
            <a:endParaRPr lang="en-US" sz="2828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62554" lvl="1" indent="-457200" algn="l">
              <a:lnSpc>
                <a:spcPts val="3960"/>
              </a:lnSpc>
              <a:buFont typeface="Wingdings" panose="05000000000000000000" pitchFamily="2" charset="2"/>
              <a:buChar char="v"/>
            </a:pP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Taille du batch </a:t>
            </a:r>
            <a:r>
              <a:rPr lang="en-US" sz="282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d’entraînement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828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per_device_train_batch_size</a:t>
            </a:r>
            <a:r>
              <a:rPr lang="en-US" sz="2828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=16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305354" lvl="1" algn="l">
              <a:lnSpc>
                <a:spcPts val="3960"/>
              </a:lnSpc>
            </a:pPr>
            <a:endParaRPr lang="en-US" sz="2828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62554" lvl="1" indent="-457200" algn="l">
              <a:lnSpc>
                <a:spcPts val="3960"/>
              </a:lnSpc>
              <a:buFont typeface="Wingdings" panose="05000000000000000000" pitchFamily="2" charset="2"/>
              <a:buChar char="v"/>
            </a:pP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Taille du batch </a:t>
            </a:r>
            <a:r>
              <a:rPr lang="en-US" sz="282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d’évaluation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828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per_device_eval_batch_size</a:t>
            </a:r>
            <a:r>
              <a:rPr lang="en-US" sz="2828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=64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610707" lvl="1" indent="-305353" algn="l">
              <a:lnSpc>
                <a:spcPts val="3960"/>
              </a:lnSpc>
              <a:buFont typeface="Arial"/>
              <a:buChar char="•"/>
            </a:pPr>
            <a:endParaRPr lang="en-US" sz="2828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62554" lvl="1" indent="-457200" algn="l">
              <a:lnSpc>
                <a:spcPts val="3960"/>
              </a:lnSpc>
              <a:buFont typeface="Wingdings" panose="05000000000000000000" pitchFamily="2" charset="2"/>
              <a:buChar char="v"/>
            </a:pPr>
            <a:r>
              <a:rPr lang="en-US" sz="282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Taux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2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d’apprentissage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2828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learning_rate</a:t>
            </a:r>
            <a:r>
              <a:rPr lang="en-US" sz="2828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=3e-5</a:t>
            </a:r>
            <a:r>
              <a:rPr lang="en-US" sz="282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548917" y="297446"/>
            <a:ext cx="13399958" cy="1868907"/>
            <a:chOff x="0" y="0"/>
            <a:chExt cx="645785" cy="900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90068"/>
            </a:xfrm>
            <a:custGeom>
              <a:avLst/>
              <a:gdLst/>
              <a:ahLst/>
              <a:cxnLst/>
              <a:rect l="l" t="t" r="r" b="b"/>
              <a:pathLst>
                <a:path w="645785" h="90068">
                  <a:moveTo>
                    <a:pt x="45034" y="0"/>
                  </a:moveTo>
                  <a:lnTo>
                    <a:pt x="600751" y="0"/>
                  </a:lnTo>
                  <a:cubicBezTo>
                    <a:pt x="625622" y="0"/>
                    <a:pt x="645785" y="20162"/>
                    <a:pt x="645785" y="45034"/>
                  </a:cubicBezTo>
                  <a:lnTo>
                    <a:pt x="645785" y="45034"/>
                  </a:lnTo>
                  <a:cubicBezTo>
                    <a:pt x="645785" y="69906"/>
                    <a:pt x="625622" y="90068"/>
                    <a:pt x="600751" y="90068"/>
                  </a:cubicBezTo>
                  <a:lnTo>
                    <a:pt x="45034" y="90068"/>
                  </a:lnTo>
                  <a:cubicBezTo>
                    <a:pt x="20162" y="90068"/>
                    <a:pt x="0" y="69906"/>
                    <a:pt x="0" y="45034"/>
                  </a:cubicBezTo>
                  <a:lnTo>
                    <a:pt x="0" y="45034"/>
                  </a:lnTo>
                  <a:cubicBezTo>
                    <a:pt x="0" y="20162"/>
                    <a:pt x="20162" y="0"/>
                    <a:pt x="45034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28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678251" y="2463800"/>
            <a:ext cx="9799749" cy="6718300"/>
          </a:xfrm>
          <a:custGeom>
            <a:avLst/>
            <a:gdLst/>
            <a:ahLst/>
            <a:cxnLst/>
            <a:rect l="l" t="t" r="r" b="b"/>
            <a:pathLst>
              <a:path w="8925878" h="6800221">
                <a:moveTo>
                  <a:pt x="0" y="0"/>
                </a:moveTo>
                <a:lnTo>
                  <a:pt x="8925878" y="0"/>
                </a:lnTo>
                <a:lnTo>
                  <a:pt x="8925878" y="6800221"/>
                </a:lnTo>
                <a:lnTo>
                  <a:pt x="0" y="6800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796974" y="615150"/>
            <a:ext cx="14851859" cy="12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SÉLECTION ET EVALUATION DU MODÈLE LE PLUS PERFORMANT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444021" y="495300"/>
            <a:ext cx="13399958" cy="1868907"/>
            <a:chOff x="0" y="0"/>
            <a:chExt cx="645785" cy="900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5785" cy="90068"/>
            </a:xfrm>
            <a:custGeom>
              <a:avLst/>
              <a:gdLst/>
              <a:ahLst/>
              <a:cxnLst/>
              <a:rect l="l" t="t" r="r" b="b"/>
              <a:pathLst>
                <a:path w="645785" h="90068">
                  <a:moveTo>
                    <a:pt x="45034" y="0"/>
                  </a:moveTo>
                  <a:lnTo>
                    <a:pt x="600751" y="0"/>
                  </a:lnTo>
                  <a:cubicBezTo>
                    <a:pt x="625622" y="0"/>
                    <a:pt x="645785" y="20162"/>
                    <a:pt x="645785" y="45034"/>
                  </a:cubicBezTo>
                  <a:lnTo>
                    <a:pt x="645785" y="45034"/>
                  </a:lnTo>
                  <a:cubicBezTo>
                    <a:pt x="645785" y="69906"/>
                    <a:pt x="625622" y="90068"/>
                    <a:pt x="600751" y="90068"/>
                  </a:cubicBezTo>
                  <a:lnTo>
                    <a:pt x="45034" y="90068"/>
                  </a:lnTo>
                  <a:cubicBezTo>
                    <a:pt x="20162" y="90068"/>
                    <a:pt x="0" y="69906"/>
                    <a:pt x="0" y="45034"/>
                  </a:cubicBezTo>
                  <a:lnTo>
                    <a:pt x="0" y="45034"/>
                  </a:lnTo>
                  <a:cubicBezTo>
                    <a:pt x="0" y="20162"/>
                    <a:pt x="20162" y="0"/>
                    <a:pt x="45034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45785" cy="128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6974" y="615150"/>
            <a:ext cx="14851859" cy="12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SÉLECTION ET EVALUATION DU MODÈLE LE PLUS PERFORMANT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10CCEDA-F03F-4EBF-BB86-E25A13444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840" y="3305568"/>
            <a:ext cx="15046165" cy="491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kern="100" dirty="0">
                <a:solidFill>
                  <a:schemeClr val="bg1"/>
                </a:solidFill>
                <a:effectLst/>
                <a:latin typeface="Montserrat ExtraBold" panose="000009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Faiblesse des Transformers</a:t>
            </a:r>
            <a:endParaRPr kumimoji="0" lang="fr-FR" altLang="fr-FR" sz="36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ExtraBold" panose="00000900000000000000" pitchFamily="50" charset="0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Limitation de longueur (512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tokens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 max, 128 utilisés)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Sensibilité au déséquilibre des classes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Risque de surapprentissage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Incompréhension des subtilités linguistiques comme le sarcasme ou l’ironie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Coût computationnel élevé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fr-FR" altLang="fr-FR" sz="2800" dirty="0">
                <a:solidFill>
                  <a:schemeClr val="bg1"/>
                </a:solidFill>
                <a:latin typeface="Montserrat" panose="00000500000000000000" pitchFamily="50" charset="0"/>
              </a:rPr>
              <a:t>Peut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50" charset="0"/>
              </a:rPr>
              <a:t> hériter des biais des données de pré-entraînement </a:t>
            </a:r>
          </a:p>
        </p:txBody>
      </p:sp>
    </p:spTree>
    <p:extLst>
      <p:ext uri="{BB962C8B-B14F-4D97-AF65-F5344CB8AC3E}">
        <p14:creationId xmlns:p14="http://schemas.microsoft.com/office/powerpoint/2010/main" val="3747859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609750" y="0"/>
            <a:ext cx="4678250" cy="5653498"/>
          </a:xfrm>
          <a:custGeom>
            <a:avLst/>
            <a:gdLst/>
            <a:ahLst/>
            <a:cxnLst/>
            <a:rect l="l" t="t" r="r" b="b"/>
            <a:pathLst>
              <a:path w="4678250" h="5653498">
                <a:moveTo>
                  <a:pt x="0" y="0"/>
                </a:moveTo>
                <a:lnTo>
                  <a:pt x="4678250" y="0"/>
                </a:lnTo>
                <a:lnTo>
                  <a:pt x="4678250" y="5653498"/>
                </a:lnTo>
                <a:lnTo>
                  <a:pt x="0" y="565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2209800" y="190501"/>
            <a:ext cx="13218566" cy="1916534"/>
            <a:chOff x="-3735" y="6934"/>
            <a:chExt cx="629490" cy="90068"/>
          </a:xfrm>
        </p:grpSpPr>
        <p:sp>
          <p:nvSpPr>
            <p:cNvPr id="5" name="Freeform 5"/>
            <p:cNvSpPr/>
            <p:nvPr/>
          </p:nvSpPr>
          <p:spPr>
            <a:xfrm>
              <a:off x="-3735" y="6934"/>
              <a:ext cx="629490" cy="90068"/>
            </a:xfrm>
            <a:custGeom>
              <a:avLst/>
              <a:gdLst/>
              <a:ahLst/>
              <a:cxnLst/>
              <a:rect l="l" t="t" r="r" b="b"/>
              <a:pathLst>
                <a:path w="629490" h="90068">
                  <a:moveTo>
                    <a:pt x="45034" y="0"/>
                  </a:moveTo>
                  <a:lnTo>
                    <a:pt x="584456" y="0"/>
                  </a:lnTo>
                  <a:cubicBezTo>
                    <a:pt x="609328" y="0"/>
                    <a:pt x="629490" y="20162"/>
                    <a:pt x="629490" y="45034"/>
                  </a:cubicBezTo>
                  <a:lnTo>
                    <a:pt x="629490" y="45034"/>
                  </a:lnTo>
                  <a:cubicBezTo>
                    <a:pt x="629490" y="69906"/>
                    <a:pt x="609328" y="90068"/>
                    <a:pt x="584456" y="90068"/>
                  </a:cubicBezTo>
                  <a:lnTo>
                    <a:pt x="45034" y="90068"/>
                  </a:lnTo>
                  <a:cubicBezTo>
                    <a:pt x="20162" y="90068"/>
                    <a:pt x="0" y="69906"/>
                    <a:pt x="0" y="45034"/>
                  </a:cubicBezTo>
                  <a:lnTo>
                    <a:pt x="0" y="45034"/>
                  </a:lnTo>
                  <a:cubicBezTo>
                    <a:pt x="0" y="20162"/>
                    <a:pt x="20162" y="0"/>
                    <a:pt x="45034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6673"/>
              <a:ext cx="610194" cy="63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r>
                <a:rPr lang="en-US" sz="379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 </a:t>
              </a:r>
              <a:r>
                <a:rPr lang="en-US" sz="3799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Capacité</a:t>
              </a:r>
              <a:r>
                <a:rPr lang="en-US" sz="379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à </a:t>
              </a:r>
              <a:r>
                <a:rPr lang="en-US" sz="3799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apprendre</a:t>
              </a:r>
              <a:r>
                <a:rPr lang="en-US" sz="379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le </a:t>
              </a:r>
              <a:r>
                <a:rPr lang="en-US" sz="3799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codage</a:t>
              </a:r>
              <a:r>
                <a:rPr lang="en-US" sz="379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de manière </a:t>
              </a:r>
              <a:r>
                <a:rPr lang="en-US" sz="3799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indépendante</a:t>
              </a:r>
              <a:endParaRPr lang="en-US" sz="3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2659"/>
                </a:lnSpc>
              </a:pPr>
              <a:endParaRPr lang="en-US" sz="3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FF11A376-6DE6-44D8-908C-2E7FAA839720}"/>
              </a:ext>
            </a:extLst>
          </p:cNvPr>
          <p:cNvSpPr txBox="1"/>
          <p:nvPr/>
        </p:nvSpPr>
        <p:spPr>
          <a:xfrm>
            <a:off x="2865550" y="2527056"/>
            <a:ext cx="107442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Objectif :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 P</a:t>
            </a:r>
            <a:r>
              <a:rPr lang="fr-FR" sz="3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rédire les 3 sentiments (négatif, neutre, positif)</a:t>
            </a:r>
          </a:p>
          <a:p>
            <a:endParaRPr lang="fr-FR" sz="36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Algorithme : 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M</a:t>
            </a:r>
            <a:r>
              <a:rPr lang="fr-FR" sz="3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odèle logistique sur les données au format TF-IDF.</a:t>
            </a:r>
          </a:p>
          <a:p>
            <a:endParaRPr lang="fr-FR" sz="36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V</a:t>
            </a:r>
            <a:r>
              <a:rPr lang="fr-FR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alidation croisée</a:t>
            </a:r>
            <a:r>
              <a:rPr lang="fr-FR" sz="3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par le principe de </a:t>
            </a:r>
            <a:r>
              <a:rPr lang="fr-FR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Train/Validation/Test split (</a:t>
            </a:r>
            <a:r>
              <a:rPr lang="fr-FR" sz="3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validation croisée sur le jeu d’entrainement avec jeu de test indépendant pour l’évaluation finale uniquement)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fr-FR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Performances :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Précision = 0,76 || </a:t>
            </a:r>
            <a:r>
              <a:rPr lang="fr-FR" sz="36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Recall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= 0,75 || </a:t>
            </a:r>
            <a:r>
              <a:rPr lang="fr-FR" sz="36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Accuracy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= 0,75 || F1-score pondéré = 0,75</a:t>
            </a:r>
            <a:endParaRPr lang="fr-FR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00500" y="6099986"/>
            <a:ext cx="10287000" cy="1389068"/>
            <a:chOff x="0" y="0"/>
            <a:chExt cx="527707" cy="7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707" cy="74364"/>
            </a:xfrm>
            <a:custGeom>
              <a:avLst/>
              <a:gdLst/>
              <a:ahLst/>
              <a:cxnLst/>
              <a:rect l="l" t="t" r="r" b="b"/>
              <a:pathLst>
                <a:path w="527707" h="74364">
                  <a:moveTo>
                    <a:pt x="37182" y="0"/>
                  </a:moveTo>
                  <a:lnTo>
                    <a:pt x="490525" y="0"/>
                  </a:lnTo>
                  <a:cubicBezTo>
                    <a:pt x="500386" y="0"/>
                    <a:pt x="509844" y="3917"/>
                    <a:pt x="516817" y="10890"/>
                  </a:cubicBezTo>
                  <a:cubicBezTo>
                    <a:pt x="523790" y="17863"/>
                    <a:pt x="527707" y="27321"/>
                    <a:pt x="527707" y="37182"/>
                  </a:cubicBezTo>
                  <a:lnTo>
                    <a:pt x="527707" y="37182"/>
                  </a:lnTo>
                  <a:cubicBezTo>
                    <a:pt x="527707" y="57717"/>
                    <a:pt x="511060" y="74364"/>
                    <a:pt x="490525" y="74364"/>
                  </a:cubicBezTo>
                  <a:lnTo>
                    <a:pt x="37182" y="74364"/>
                  </a:lnTo>
                  <a:cubicBezTo>
                    <a:pt x="16647" y="74364"/>
                    <a:pt x="0" y="57717"/>
                    <a:pt x="0" y="37182"/>
                  </a:cubicBezTo>
                  <a:lnTo>
                    <a:pt x="0" y="37182"/>
                  </a:lnTo>
                  <a:cubicBezTo>
                    <a:pt x="0" y="16647"/>
                    <a:pt x="16647" y="0"/>
                    <a:pt x="37182" y="0"/>
                  </a:cubicBezTo>
                  <a:close/>
                </a:path>
              </a:pathLst>
            </a:custGeom>
            <a:solidFill>
              <a:srgbClr val="2A6AD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7707" cy="112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586" y="7301487"/>
            <a:ext cx="1824228" cy="3257550"/>
          </a:xfrm>
          <a:custGeom>
            <a:avLst/>
            <a:gdLst/>
            <a:ahLst/>
            <a:cxnLst/>
            <a:rect l="l" t="t" r="r" b="b"/>
            <a:pathLst>
              <a:path w="1824228" h="3257550">
                <a:moveTo>
                  <a:pt x="0" y="0"/>
                </a:moveTo>
                <a:lnTo>
                  <a:pt x="1824228" y="0"/>
                </a:lnTo>
                <a:lnTo>
                  <a:pt x="1824228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0" y="3183479"/>
            <a:ext cx="18288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MERCI DE VOTRE ATTENTION.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586" y="6099986"/>
            <a:ext cx="18288000" cy="127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 dirty="0">
                <a:solidFill>
                  <a:srgbClr val="FFFFFF"/>
                </a:solidFill>
                <a:latin typeface="Montserrat ExtraBold" panose="00000900000000000000" pitchFamily="50" charset="0"/>
                <a:ea typeface="Neue Machina Ultra-Bold"/>
                <a:cs typeface="Neue Machina Ultra-Bold"/>
                <a:sym typeface="Neue Machina Ultra-Bold"/>
              </a:rPr>
              <a:t>ML GEEK</a:t>
            </a:r>
          </a:p>
        </p:txBody>
      </p:sp>
      <p:sp>
        <p:nvSpPr>
          <p:cNvPr id="8" name="Freeform 8"/>
          <p:cNvSpPr/>
          <p:nvPr/>
        </p:nvSpPr>
        <p:spPr>
          <a:xfrm>
            <a:off x="-286038" y="0"/>
            <a:ext cx="3701077" cy="3532846"/>
          </a:xfrm>
          <a:custGeom>
            <a:avLst/>
            <a:gdLst/>
            <a:ahLst/>
            <a:cxnLst/>
            <a:rect l="l" t="t" r="r" b="b"/>
            <a:pathLst>
              <a:path w="3701077" h="3532846">
                <a:moveTo>
                  <a:pt x="0" y="0"/>
                </a:moveTo>
                <a:lnTo>
                  <a:pt x="3701077" y="0"/>
                </a:lnTo>
                <a:lnTo>
                  <a:pt x="3701077" y="3532846"/>
                </a:lnTo>
                <a:lnTo>
                  <a:pt x="0" y="3532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4682915" y="5930384"/>
            <a:ext cx="3605085" cy="4356616"/>
          </a:xfrm>
          <a:custGeom>
            <a:avLst/>
            <a:gdLst/>
            <a:ahLst/>
            <a:cxnLst/>
            <a:rect l="l" t="t" r="r" b="b"/>
            <a:pathLst>
              <a:path w="3605085" h="4356616">
                <a:moveTo>
                  <a:pt x="0" y="0"/>
                </a:moveTo>
                <a:lnTo>
                  <a:pt x="3605085" y="0"/>
                </a:lnTo>
                <a:lnTo>
                  <a:pt x="3605085" y="4356616"/>
                </a:lnTo>
                <a:lnTo>
                  <a:pt x="0" y="435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62" r="-74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3369853" y="631438"/>
            <a:ext cx="2342491" cy="2342491"/>
          </a:xfrm>
          <a:custGeom>
            <a:avLst/>
            <a:gdLst/>
            <a:ahLst/>
            <a:cxnLst/>
            <a:rect l="l" t="t" r="r" b="b"/>
            <a:pathLst>
              <a:path w="2342491" h="2342491">
                <a:moveTo>
                  <a:pt x="0" y="0"/>
                </a:moveTo>
                <a:lnTo>
                  <a:pt x="2342491" y="0"/>
                </a:lnTo>
                <a:lnTo>
                  <a:pt x="2342491" y="2342491"/>
                </a:lnTo>
                <a:lnTo>
                  <a:pt x="0" y="234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821</Words>
  <Application>Microsoft Office PowerPoint</Application>
  <PresentationFormat>Personnalisé</PresentationFormat>
  <Paragraphs>126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9" baseType="lpstr">
      <vt:lpstr>Montserrat Bold</vt:lpstr>
      <vt:lpstr>Wingdings</vt:lpstr>
      <vt:lpstr>Hero Bold</vt:lpstr>
      <vt:lpstr>Arial</vt:lpstr>
      <vt:lpstr>Neue Machina Ultra-Bold</vt:lpstr>
      <vt:lpstr>Times New Roman</vt:lpstr>
      <vt:lpstr>Calibri</vt:lpstr>
      <vt:lpstr>Montserrat Alternates ExtraBold</vt:lpstr>
      <vt:lpstr>Montserrat</vt:lpstr>
      <vt:lpstr>Montserrat ExtraBold</vt:lpstr>
      <vt:lpstr>Open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</dc:title>
  <dc:creator>HP</dc:creator>
  <cp:lastModifiedBy>Vivien Gboyo</cp:lastModifiedBy>
  <cp:revision>34</cp:revision>
  <dcterms:created xsi:type="dcterms:W3CDTF">2006-08-16T00:00:00Z</dcterms:created>
  <dcterms:modified xsi:type="dcterms:W3CDTF">2025-04-10T18:59:10Z</dcterms:modified>
  <dc:identifier>DAGkHLc08jo</dc:identifier>
</cp:coreProperties>
</file>